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61" r:id="rId4"/>
    <p:sldId id="258" r:id="rId5"/>
    <p:sldId id="262" r:id="rId6"/>
    <p:sldId id="259" r:id="rId7"/>
    <p:sldId id="260" r:id="rId8"/>
    <p:sldId id="264" r:id="rId9"/>
    <p:sldId id="265" r:id="rId10"/>
    <p:sldId id="269" r:id="rId11"/>
    <p:sldId id="266" r:id="rId12"/>
    <p:sldId id="272" r:id="rId13"/>
    <p:sldId id="270" r:id="rId14"/>
    <p:sldId id="267" r:id="rId15"/>
    <p:sldId id="271" r:id="rId16"/>
    <p:sldId id="263" r:id="rId17"/>
  </p:sldIdLst>
  <p:sldSz cx="12192000" cy="6858000"/>
  <p:notesSz cx="6858000" cy="9144000"/>
  <p:embeddedFontLst>
    <p:embeddedFont>
      <p:font typeface="Be Vietnam Pro" panose="020B0604020202020204" charset="0"/>
      <p:regular r:id="rId19"/>
      <p:bold r:id="rId20"/>
      <p:italic r:id="rId21"/>
      <p:boldItalic r:id="rId22"/>
    </p:embeddedFont>
    <p:embeddedFont>
      <p:font typeface="Be Vietnam Pro Black" panose="020B0604020202020204" charset="0"/>
      <p:bold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gxUJDi3HmSJBY1WFlZlx6sEl1G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722735" y="2052409"/>
            <a:ext cx="47917" cy="2204143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/>
        </p:nvSpPr>
        <p:spPr>
          <a:xfrm>
            <a:off x="872275" y="2052409"/>
            <a:ext cx="77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 txBox="1"/>
          <p:nvPr/>
        </p:nvSpPr>
        <p:spPr>
          <a:xfrm>
            <a:off x="872275" y="3125037"/>
            <a:ext cx="77592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0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 descr="A blue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7"/>
              </a:buClr>
              <a:buSzPts val="4400"/>
              <a:buFont typeface="Be Vietnam Pro"/>
              <a:buNone/>
              <a:defRPr sz="4400" b="1" i="0" u="none" strike="noStrike" cap="none">
                <a:solidFill>
                  <a:srgbClr val="153C87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11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e Vietnam Pro"/>
              <a:buNone/>
              <a:defRPr sz="4400" b="1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2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" name="Google Shape;26;p12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icture">
  <p:cSld name="1 pictur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3" descr="A white and blu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018" y="351693"/>
            <a:ext cx="4043963" cy="591847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3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" name="Google Shape;32;p13" descr="A blue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143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/>
          <p:nvPr/>
        </p:nvSpPr>
        <p:spPr>
          <a:xfrm>
            <a:off x="11906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>
            <a:spLocks noGrp="1"/>
          </p:cNvSpPr>
          <p:nvPr>
            <p:ph type="pic" idx="3"/>
          </p:nvPr>
        </p:nvSpPr>
        <p:spPr>
          <a:xfrm>
            <a:off x="839788" y="352425"/>
            <a:ext cx="4043362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3"/>
          <p:cNvSpPr txBox="1"/>
          <p:nvPr/>
        </p:nvSpPr>
        <p:spPr>
          <a:xfrm>
            <a:off x="1031324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s">
  <p:cSld name="3 Pic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ctrTitle"/>
          </p:nvPr>
        </p:nvSpPr>
        <p:spPr>
          <a:xfrm>
            <a:off x="874207" y="2140298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ubTitle" idx="1"/>
          </p:nvPr>
        </p:nvSpPr>
        <p:spPr>
          <a:xfrm>
            <a:off x="874207" y="3680058"/>
            <a:ext cx="3205425" cy="269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14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30" y="337436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4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28" y="2425412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4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29" y="4513387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4" descr="A blue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4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2"/>
          </p:nvPr>
        </p:nvSpPr>
        <p:spPr>
          <a:xfrm>
            <a:off x="8310563" y="593312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3"/>
          </p:nvPr>
        </p:nvSpPr>
        <p:spPr>
          <a:xfrm>
            <a:off x="8310563" y="2681288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4"/>
          </p:nvPr>
        </p:nvSpPr>
        <p:spPr>
          <a:xfrm>
            <a:off x="8310563" y="4769264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>
            <a:spLocks noGrp="1"/>
          </p:cNvSpPr>
          <p:nvPr>
            <p:ph type="pic" idx="5"/>
          </p:nvPr>
        </p:nvSpPr>
        <p:spPr>
          <a:xfrm>
            <a:off x="4815771" y="338138"/>
            <a:ext cx="2715329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4"/>
          <p:cNvSpPr>
            <a:spLocks noGrp="1"/>
          </p:cNvSpPr>
          <p:nvPr>
            <p:ph type="pic" idx="6"/>
          </p:nvPr>
        </p:nvSpPr>
        <p:spPr>
          <a:xfrm>
            <a:off x="4815771" y="2425290"/>
            <a:ext cx="2714011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>
            <a:spLocks noGrp="1"/>
          </p:cNvSpPr>
          <p:nvPr>
            <p:ph type="pic" idx="7"/>
          </p:nvPr>
        </p:nvSpPr>
        <p:spPr>
          <a:xfrm>
            <a:off x="4815771" y="4512442"/>
            <a:ext cx="2714010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4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 introduction">
  <p:cSld name="Speakers introduc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5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744" y="1995581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5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2235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5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727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5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FFCB4E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7" name="Google Shape;57;p15" descr="A white letter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>
            <a:spLocks noGrp="1"/>
          </p:cNvSpPr>
          <p:nvPr>
            <p:ph type="pic" idx="4"/>
          </p:nvPr>
        </p:nvSpPr>
        <p:spPr>
          <a:xfrm>
            <a:off x="1050349" y="1995486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3" name="Google Shape;63;p15"/>
          <p:cNvSpPr>
            <a:spLocks noGrp="1"/>
          </p:cNvSpPr>
          <p:nvPr>
            <p:ph type="pic" idx="5"/>
          </p:nvPr>
        </p:nvSpPr>
        <p:spPr>
          <a:xfrm>
            <a:off x="4953554" y="1995486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4" name="Google Shape;64;p15"/>
          <p:cNvSpPr>
            <a:spLocks noGrp="1"/>
          </p:cNvSpPr>
          <p:nvPr>
            <p:ph type="pic" idx="6"/>
          </p:nvPr>
        </p:nvSpPr>
        <p:spPr>
          <a:xfrm>
            <a:off x="8852743" y="1995487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&amp; 3 sub">
  <p:cSld name="1 title &amp; 3 sub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9" name="Google Shape;69;p16" descr="A blue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b="0" i="0" u="none" strike="noStrike" cap="none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/>
          <p:nvPr/>
        </p:nvSpPr>
        <p:spPr>
          <a:xfrm>
            <a:off x="722735" y="2052409"/>
            <a:ext cx="47917" cy="2061665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872275" y="2052409"/>
            <a:ext cx="7759259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000" b="1" i="0" u="none" strike="noStrike" cap="none" noProof="1">
                <a:solidFill>
                  <a:srgbClr val="FFCC4D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PHÂN LOẠI ẢNH THỜI TRANG BẰNG CNN</a:t>
            </a:r>
            <a:endParaRPr lang="en-US" sz="14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872275" y="3652409"/>
            <a:ext cx="77592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Bài tập lớn học phần Trí tuệ nhân tạo </a:t>
            </a:r>
            <a:r>
              <a:rPr lang="en-US" sz="2400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-- </a:t>
            </a:r>
            <a:r>
              <a:rPr lang="en-US" sz="24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Nhóm 12 </a:t>
            </a:r>
            <a:endParaRPr lang="en-US" sz="2400" noProof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buSzPts val="2400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Lớp :</a:t>
            </a:r>
            <a:r>
              <a:rPr lang="en-US" sz="24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20254IT6094001 </a:t>
            </a:r>
          </a:p>
          <a:p>
            <a:pPr lvl="0">
              <a:buSzPts val="2400"/>
            </a:pPr>
            <a:r>
              <a:rPr lang="en-US" sz="24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GVHD: Dương Thị Hiền Thanh</a:t>
            </a:r>
            <a:endParaRPr lang="en-US" sz="14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b="0" i="0" u="none" strike="noStrike" cap="none" noProof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/>
              <a:t>Mục lục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trình</a:t>
            </a:r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I. Giới thiệu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/>
              <a:t>Nhóm thực hiện · Đặt vấn đề · Mục tiêu &amp; phạm vi</a:t>
            </a:r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II. Phương pháp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/>
              <a:t>CNN &amp; kiến trúc · Kỹ thuật cải thiện · Dữ liệu · Huấn luyện &amp; đánh giá</a:t>
            </a:r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III. Kết quả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/>
              <a:t>Demo minh hoạ · Kết quả thực nghiệm · Kết luận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</a:pPr>
            <a:r>
              <a:t>Nhóm thực hiện</a:t>
            </a:r>
          </a:p>
        </p:txBody>
      </p:sp>
      <p:sp>
        <p:nvSpPr>
          <p:cNvPr id="122" name="Google Shape;122;p6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Nguyễn Ngọc Thiện</a:t>
            </a: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MSSV: 2024603182</a:t>
            </a:r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Nguyễn Nam Tiến — 2024603391</a:t>
            </a: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Nguyễn Hữu Phượng — 2024603272</a:t>
            </a:r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Nguyễn Hoàng Hải — 2024603477</a:t>
            </a: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Phạm Minh Khương — 2023600861</a:t>
            </a:r>
          </a:p>
        </p:txBody>
      </p:sp>
      <p:sp>
        <p:nvSpPr>
          <p:cNvPr id="901" name="NoteBox"/>
          <p:cNvSpPr txBox="1"/>
          <p:nvPr/>
        </p:nvSpPr>
        <p:spPr>
          <a:xfrm>
            <a:off x="1050349" y="5900000"/>
            <a:ext cx="10091982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endParaRPr lang="vi-VN" sz="1300" b="1" i="1" dirty="0">
              <a:solidFill>
                <a:srgbClr val="FFCC4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e Vietnam Pro"/>
              <a:buNone/>
            </a:pPr>
            <a:r>
              <a:t>Bài toán phân loại ảnh thời trang</a:t>
            </a:r>
          </a:p>
        </p:txBody>
      </p:sp>
      <p:sp>
        <p:nvSpPr>
          <p:cNvPr id="96" name="Google Shape;96;p3"/>
          <p:cNvSpPr txBox="1">
            <a:spLocks noGrp="1"/>
          </p:cNvSpPr>
          <p:nvPr>
            <p:ph type="subTitle" idx="1"/>
          </p:nvPr>
        </p:nvSpPr>
        <p:spPr>
          <a:xfrm>
            <a:off x="1524000" y="279063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dirty="0"/>
              <a:t>Thương </a:t>
            </a:r>
            <a:r>
              <a:rPr dirty="0" err="1"/>
              <a:t>mại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nghìn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ngày</a:t>
            </a:r>
            <a:r>
              <a:rPr dirty="0"/>
              <a:t>,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gắn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.</a:t>
            </a: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dirty="0"/>
              <a:t>CNN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,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200"/>
              <a:t>Mục tiêu &amp; phạm vi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dirty="0" err="1"/>
              <a:t>Những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được</a:t>
            </a:r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b="1"/>
              <a:t>Độ chính xác cao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t>Xây dựng CNN đạt Accuracy cạnh tranh trên Fashion-MNIST, vượt trội so với MLP truyền thống.</a:t>
            </a:r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b="1"/>
              <a:t>Chống overfitting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t>Áp dụng Data Augmentation, Dropout, Batch Normalization để tăng khả năng tổng quát hoá.</a:t>
            </a:r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b="1"/>
              <a:t>Đánh giá toàn diện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t>Phân tích Precision, Recall, F1-score và Confusion Matrix, không chỉ dừng ở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/>
              <a:t>Vì sao chọn CNN?</a:t>
            </a:r>
            <a:endParaRPr/>
          </a:p>
        </p:txBody>
      </p:sp>
      <p:sp>
        <p:nvSpPr>
          <p:cNvPr id="102" name="Google Shape;102;p4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Convolutional Neural Network (CNN)</a:t>
            </a: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600"/>
              <a:t>MLP làm phẳng toàn bộ ảnh thành vector, dẫn tới hàng triệu tham số và dễ overfitting.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600"/>
              <a:t>CNN chia sẻ tham số qua bộ lọc trượt, khai thác tính cục bộ để tự học đặc trưng — từ cạnh, góc đến hình dạng tổng thể trang phục.</a:t>
            </a:r>
            <a:endParaRPr/>
          </a:p>
        </p:txBody>
      </p:sp>
      <p:pic>
        <p:nvPicPr>
          <p:cNvPr id="2" name="Picture 1" descr="Convolutional Neural Network (CNN) in Machine Learning">
            <a:extLst>
              <a:ext uri="{FF2B5EF4-FFF2-40B4-BE49-F238E27FC236}">
                <a16:creationId xmlns:a16="http://schemas.microsoft.com/office/drawing/2014/main" id="{25255658-D3B3-A88B-CA03-E8C4586CD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65" y="262718"/>
            <a:ext cx="5112728" cy="6041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ctrTitle"/>
          </p:nvPr>
        </p:nvSpPr>
        <p:spPr>
          <a:xfrm>
            <a:off x="584061" y="214909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 dirty="0" err="1"/>
              <a:t>Kiến</a:t>
            </a:r>
            <a:r>
              <a:rPr sz="3600" dirty="0"/>
              <a:t> </a:t>
            </a:r>
            <a:r>
              <a:rPr sz="3600" dirty="0" err="1"/>
              <a:t>trúc</a:t>
            </a:r>
            <a:r>
              <a:rPr sz="3600" dirty="0"/>
              <a:t> </a:t>
            </a:r>
            <a:r>
              <a:rPr sz="3600" dirty="0" err="1"/>
              <a:t>mạng</a:t>
            </a:r>
            <a:r>
              <a:rPr sz="3600" dirty="0"/>
              <a:t> CNN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874207" y="3680058"/>
            <a:ext cx="3205425" cy="269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dirty="0"/>
              <a:t>Ba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chập</a:t>
            </a:r>
            <a:endParaRPr dirty="0"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2"/>
          </p:nvPr>
        </p:nvSpPr>
        <p:spPr>
          <a:xfrm>
            <a:off x="8310563" y="593312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Convolution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Trượt bộ lọc qua ảnh để trích xuất đặc trưng (cạnh, hoạ tiết, hình khối) thành feature map.</a:t>
            </a:r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3"/>
          </p:nvPr>
        </p:nvSpPr>
        <p:spPr>
          <a:xfrm>
            <a:off x="8310563" y="2681288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Pooling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Giảm kích thước feature map (Max/Avg Pooling), giữ đặc trưng nổi bật, giảm chi phí tính toán.</a:t>
            </a:r>
          </a:p>
        </p:txBody>
      </p:sp>
      <p:sp>
        <p:nvSpPr>
          <p:cNvPr id="113" name="Google Shape;113;p5"/>
          <p:cNvSpPr txBox="1">
            <a:spLocks noGrp="1"/>
          </p:cNvSpPr>
          <p:nvPr>
            <p:ph type="body" idx="4"/>
          </p:nvPr>
        </p:nvSpPr>
        <p:spPr>
          <a:xfrm>
            <a:off x="8310563" y="4769264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Fully Connected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Tổng hợp đặc trưng đã trích xuất, đưa qua Softmax để phân loại thành 10 lớp trang phục.</a:t>
            </a:r>
          </a:p>
        </p:txBody>
      </p:sp>
      <p:pic>
        <p:nvPicPr>
          <p:cNvPr id="9005" name="Icon 5"/>
          <p:cNvPicPr/>
          <p:nvPr/>
        </p:nvPicPr>
        <p:blipFill>
          <a:blip r:embed="rId3"/>
          <a:stretch>
            <a:fillRect/>
          </a:stretch>
        </p:blipFill>
        <p:spPr>
          <a:xfrm>
            <a:off x="5478110" y="569913"/>
            <a:ext cx="1390650" cy="1390650"/>
          </a:xfrm>
          <a:prstGeom prst="ellipse">
            <a:avLst/>
          </a:prstGeom>
        </p:spPr>
      </p:pic>
      <p:pic>
        <p:nvPicPr>
          <p:cNvPr id="9006" name="Icon 6"/>
          <p:cNvPicPr/>
          <p:nvPr/>
        </p:nvPicPr>
        <p:blipFill>
          <a:blip r:embed="rId4"/>
          <a:stretch>
            <a:fillRect/>
          </a:stretch>
        </p:blipFill>
        <p:spPr>
          <a:xfrm>
            <a:off x="5477451" y="2657065"/>
            <a:ext cx="1390650" cy="1390650"/>
          </a:xfrm>
          <a:prstGeom prst="ellipse">
            <a:avLst/>
          </a:prstGeom>
        </p:spPr>
      </p:pic>
      <p:pic>
        <p:nvPicPr>
          <p:cNvPr id="9007" name="Icon 7"/>
          <p:cNvPicPr/>
          <p:nvPr/>
        </p:nvPicPr>
        <p:blipFill>
          <a:blip r:embed="rId5"/>
          <a:stretch>
            <a:fillRect/>
          </a:stretch>
        </p:blipFill>
        <p:spPr>
          <a:xfrm>
            <a:off x="5477451" y="4744217"/>
            <a:ext cx="1390650" cy="139065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ctrTitle"/>
          </p:nvPr>
        </p:nvSpPr>
        <p:spPr>
          <a:xfrm>
            <a:off x="874207" y="2140298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2800" dirty="0" err="1"/>
              <a:t>Kỹ</a:t>
            </a:r>
            <a:r>
              <a:rPr sz="2800" dirty="0"/>
              <a:t> </a:t>
            </a:r>
            <a:r>
              <a:rPr sz="2800" dirty="0" err="1"/>
              <a:t>thuật</a:t>
            </a:r>
            <a:r>
              <a:rPr sz="2800" dirty="0"/>
              <a:t> </a:t>
            </a:r>
            <a:r>
              <a:rPr sz="2800" dirty="0" err="1"/>
              <a:t>cải</a:t>
            </a:r>
            <a:r>
              <a:rPr sz="2800" dirty="0"/>
              <a:t> </a:t>
            </a:r>
            <a:r>
              <a:rPr sz="2800" dirty="0" err="1"/>
              <a:t>thiện</a:t>
            </a:r>
            <a:r>
              <a:rPr sz="2800" dirty="0"/>
              <a:t> </a:t>
            </a:r>
            <a:r>
              <a:rPr sz="2800" dirty="0" err="1"/>
              <a:t>hiệu</a:t>
            </a:r>
            <a:r>
              <a:rPr sz="2800" dirty="0"/>
              <a:t> </a:t>
            </a:r>
            <a:r>
              <a:rPr sz="2800" dirty="0" err="1"/>
              <a:t>năng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874207" y="3680058"/>
            <a:ext cx="3205425" cy="269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endParaRPr dirty="0"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2"/>
          </p:nvPr>
        </p:nvSpPr>
        <p:spPr>
          <a:xfrm>
            <a:off x="8310563" y="593312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Data Augmentation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Lật, xoay, dịch chuyển ảnh ngẫu nhiên trong lúc huấn luyện để tăng tính đa dạng của dữ liệu.</a:t>
            </a:r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3"/>
          </p:nvPr>
        </p:nvSpPr>
        <p:spPr>
          <a:xfrm>
            <a:off x="8310563" y="2681288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Dropout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Ngẫu nhiên vô hiệu hoá một phần neuron khi huấn luyện, buộc mạng học đặc trưng tổng quát hơn.</a:t>
            </a:r>
          </a:p>
        </p:txBody>
      </p:sp>
      <p:sp>
        <p:nvSpPr>
          <p:cNvPr id="113" name="Google Shape;113;p5"/>
          <p:cNvSpPr txBox="1">
            <a:spLocks noGrp="1"/>
          </p:cNvSpPr>
          <p:nvPr>
            <p:ph type="body" idx="4"/>
          </p:nvPr>
        </p:nvSpPr>
        <p:spPr>
          <a:xfrm>
            <a:off x="8310563" y="4769264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b="1"/>
              <a:t>Batch Normalization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Chuẩn hoá đầu ra mỗi lớp theo batch, giúp huấn luyện ổn định và hội tụ nhanh hơn.</a:t>
            </a:r>
          </a:p>
        </p:txBody>
      </p:sp>
      <p:pic>
        <p:nvPicPr>
          <p:cNvPr id="9005" name="Icon 5"/>
          <p:cNvPicPr/>
          <p:nvPr/>
        </p:nvPicPr>
        <p:blipFill>
          <a:blip r:embed="rId2"/>
          <a:stretch>
            <a:fillRect/>
          </a:stretch>
        </p:blipFill>
        <p:spPr>
          <a:xfrm>
            <a:off x="5478110" y="569913"/>
            <a:ext cx="1390650" cy="1390650"/>
          </a:xfrm>
          <a:prstGeom prst="ellipse">
            <a:avLst/>
          </a:prstGeom>
        </p:spPr>
      </p:pic>
      <p:pic>
        <p:nvPicPr>
          <p:cNvPr id="9006" name="Icon 6"/>
          <p:cNvPicPr/>
          <p:nvPr/>
        </p:nvPicPr>
        <p:blipFill>
          <a:blip r:embed="rId3"/>
          <a:stretch>
            <a:fillRect/>
          </a:stretch>
        </p:blipFill>
        <p:spPr>
          <a:xfrm>
            <a:off x="5477451" y="2657065"/>
            <a:ext cx="1390650" cy="1390650"/>
          </a:xfrm>
          <a:prstGeom prst="ellipse">
            <a:avLst/>
          </a:prstGeom>
        </p:spPr>
      </p:pic>
      <p:pic>
        <p:nvPicPr>
          <p:cNvPr id="9007" name="Icon 7"/>
          <p:cNvPicPr/>
          <p:nvPr/>
        </p:nvPicPr>
        <p:blipFill>
          <a:blip r:embed="rId4"/>
          <a:stretch>
            <a:fillRect/>
          </a:stretch>
        </p:blipFill>
        <p:spPr>
          <a:xfrm>
            <a:off x="5477451" y="4744217"/>
            <a:ext cx="1390650" cy="139065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/>
              <a:t>Bộ dữ liệu Fashion-MNIST</a:t>
            </a:r>
            <a:endParaRPr/>
          </a:p>
        </p:txBody>
      </p:sp>
      <p:sp>
        <p:nvSpPr>
          <p:cNvPr id="102" name="Google Shape;102;p4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70.000 ảnh xám 28×28 pixel · 10 lớp trang phục</a:t>
            </a: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400"/>
              <a:t>60.000 ảnh huấn luyện và 10.000 ảnh kiểm tra, tải tự động qua torchvision.datasets.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400"/>
              <a:t>10 lớp: T-shirt/top, Trouser, Pullover, Dress, Coat, Sandal, Shirt, Sneaker, Bag, Ankle boot.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400"/>
              <a:t>Một phần tập train được tách làm tập validation để theo dõi quá trình huấn luyện.</a:t>
            </a:r>
            <a:endParaRPr/>
          </a:p>
        </p:txBody>
      </p:sp>
      <p:pic>
        <p:nvPicPr>
          <p:cNvPr id="2" name="Picture 1" descr="Visualization">
            <a:extLst>
              <a:ext uri="{FF2B5EF4-FFF2-40B4-BE49-F238E27FC236}">
                <a16:creationId xmlns:a16="http://schemas.microsoft.com/office/drawing/2014/main" id="{9B867B39-E28C-1A8F-15B6-63FE52098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59" y="314301"/>
            <a:ext cx="4485040" cy="5945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200"/>
              <a:t>Huấn luyện &amp; đánh giá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Chia dữ liệu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/>
              <a:t>Train 54.000 · Validation 6.000 (10% tập train) · Test 10.000 ảnh — theo đúng chuẩn Fashion-MNIST.</a:t>
            </a:r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4729425" y="2933837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 dirty="0" err="1"/>
              <a:t>Cấu</a:t>
            </a:r>
            <a:r>
              <a:rPr sz="1700" b="1" dirty="0"/>
              <a:t> </a:t>
            </a:r>
            <a:r>
              <a:rPr sz="1700" b="1" dirty="0" err="1"/>
              <a:t>hình</a:t>
            </a:r>
            <a:r>
              <a:rPr sz="1700" b="1" dirty="0"/>
              <a:t> </a:t>
            </a:r>
            <a:r>
              <a:rPr sz="1700" b="1" dirty="0" err="1"/>
              <a:t>huấn</a:t>
            </a:r>
            <a:r>
              <a:rPr sz="1700" b="1" dirty="0"/>
              <a:t> </a:t>
            </a:r>
            <a:r>
              <a:rPr sz="1700" b="1" dirty="0" err="1"/>
              <a:t>luyện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 dirty="0"/>
              <a:t>Cross-Entropy Loss · Adam (</a:t>
            </a:r>
            <a:r>
              <a:rPr sz="1300" dirty="0" err="1"/>
              <a:t>lr</a:t>
            </a:r>
            <a:r>
              <a:rPr sz="1300" dirty="0"/>
              <a:t> = 0.001, weight decay = 1e-4) · batch size 128 · 20 epoch · </a:t>
            </a:r>
            <a:r>
              <a:rPr sz="1300" dirty="0" err="1"/>
              <a:t>ReduceLROnPlateau</a:t>
            </a:r>
            <a:r>
              <a:rPr sz="1300" dirty="0"/>
              <a:t> (factor 0.5, patience 2).</a:t>
            </a:r>
            <a:endParaRPr dirty="0"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Đánh giá mô hình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/>
              <a:t>Theo dõi Accuracy/Loss qua từng epoch; đánh giá cuối bằng Precision, Recall, F1-score và Confusion Matrix trên tập test.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/>
              <a:t>Demo minh hoạ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1"/>
          </p:nvPr>
        </p:nvSpPr>
        <p:spPr>
          <a:xfrm>
            <a:off x="874206" y="323767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en-US"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4729425" y="1622533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b="1" dirty="0" err="1"/>
              <a:t>Huấn</a:t>
            </a:r>
            <a:r>
              <a:rPr b="1" dirty="0"/>
              <a:t> </a:t>
            </a:r>
            <a:r>
              <a:rPr b="1" dirty="0" err="1"/>
              <a:t>luyện</a:t>
            </a:r>
            <a:r>
              <a:rPr b="1" dirty="0"/>
              <a:t> &amp; so </a:t>
            </a:r>
            <a:r>
              <a:rPr b="1" dirty="0" err="1"/>
              <a:t>sánh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 song </a:t>
            </a:r>
            <a:r>
              <a:rPr dirty="0" err="1"/>
              <a:t>song</a:t>
            </a:r>
            <a:r>
              <a:rPr dirty="0"/>
              <a:t> CNN </a:t>
            </a:r>
            <a:r>
              <a:rPr dirty="0" err="1"/>
              <a:t>và</a:t>
            </a:r>
            <a:r>
              <a:rPr dirty="0"/>
              <a:t> MLP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,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loss/accuracy qua </a:t>
            </a:r>
            <a:r>
              <a:rPr dirty="0" err="1"/>
              <a:t>từng</a:t>
            </a:r>
            <a:r>
              <a:rPr dirty="0"/>
              <a:t> epoch.</a:t>
            </a:r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4729425" y="4089068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b="1" dirty="0" err="1"/>
              <a:t>Đánh</a:t>
            </a:r>
            <a:r>
              <a:rPr b="1" dirty="0"/>
              <a:t> </a:t>
            </a:r>
            <a:r>
              <a:rPr b="1" dirty="0" err="1"/>
              <a:t>giá</a:t>
            </a:r>
            <a:r>
              <a:rPr b="1" dirty="0"/>
              <a:t> </a:t>
            </a:r>
            <a:r>
              <a:rPr b="1" dirty="0" err="1"/>
              <a:t>mô</a:t>
            </a:r>
            <a:r>
              <a:rPr b="1" dirty="0"/>
              <a:t> </a:t>
            </a:r>
            <a:r>
              <a:rPr b="1" dirty="0" err="1"/>
              <a:t>hình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dirty="0" err="1"/>
              <a:t>Tính</a:t>
            </a:r>
            <a:r>
              <a:rPr dirty="0"/>
              <a:t> Accuracy, Precision, Recall, F1-score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Confusion Matrix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458C3865-1962-D3CE-4CF7-BF8C0824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D6B09B84-3C9A-4DAD-8ED9-CC74D5224E5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94299" y="248976"/>
            <a:ext cx="4603401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 dirty="0"/>
              <a:t>Demo </a:t>
            </a:r>
            <a:r>
              <a:rPr sz="3600" dirty="0" err="1"/>
              <a:t>minh</a:t>
            </a:r>
            <a:r>
              <a:rPr sz="3600" dirty="0"/>
              <a:t> </a:t>
            </a:r>
            <a:r>
              <a:rPr sz="3600" dirty="0" err="1"/>
              <a:t>hoạ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11825-F4B0-6931-D3BF-F667C42C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685" y="786563"/>
            <a:ext cx="8856769" cy="2882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7AE78B-8BE0-F41D-A7A6-E9BA311A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85" y="3726233"/>
            <a:ext cx="8856769" cy="288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82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600"/>
              <a:t>Kết quả thực nghiệm</a:t>
            </a:r>
            <a:endParaRPr/>
          </a:p>
        </p:txBody>
      </p:sp>
      <p:sp>
        <p:nvSpPr>
          <p:cNvPr id="102" name="Google Shape;102;p4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So sánh CNN và MLP trên tập test</a:t>
            </a: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500" b="1"/>
              <a:t>CNN — Accuracy 93.18% · Precision 93.20% · Recall 93.18% · F1 93.19% (871.530 tham số)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500"/>
              <a:t>MLP — Accuracy 84.73% · Precision 84.78% · Recall 84.73% · F1 84.42% (235.914 tham số)</a:t>
            </a:r>
            <a:endParaRPr/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sz="1300" i="1">
                <a:solidFill>
                  <a:srgbClr val="FFCC4D"/>
                </a:solidFill>
              </a:rPr>
              <a:t>CNN cải thiện rõ rệt các lớp dễ nhầm: Shirt đúng tăng từ 493→798 mẫu, Coat từ 715→903 mẫu (trên tập test 10.000 ảnh).</a:t>
            </a:r>
            <a:endParaRPr/>
          </a:p>
        </p:txBody>
      </p:sp>
      <p:pic>
        <p:nvPicPr>
          <p:cNvPr id="9003" name="Confusion Matrix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956" y="1649868"/>
            <a:ext cx="3639026" cy="33233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900584" y="811527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luận</a:t>
            </a:r>
            <a:r>
              <a:rPr sz="2800" dirty="0"/>
              <a:t> &amp; </a:t>
            </a:r>
            <a:r>
              <a:rPr sz="2800" dirty="0" err="1"/>
              <a:t>hướng</a:t>
            </a:r>
            <a:r>
              <a:rPr sz="2800" dirty="0"/>
              <a:t> </a:t>
            </a:r>
            <a:r>
              <a:rPr sz="2800" dirty="0" err="1"/>
              <a:t>phát</a:t>
            </a:r>
            <a:r>
              <a:rPr sz="2800" dirty="0"/>
              <a:t> </a:t>
            </a:r>
            <a:r>
              <a:rPr sz="2800" dirty="0" err="1"/>
              <a:t>triển</a:t>
            </a:r>
            <a:endParaRPr dirty="0"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5872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 dirty="0"/>
              <a:t>Thành </a:t>
            </a:r>
            <a:r>
              <a:rPr sz="1700" b="1" dirty="0" err="1"/>
              <a:t>quả</a:t>
            </a:r>
            <a:r>
              <a:rPr sz="1700" b="1" dirty="0"/>
              <a:t> </a:t>
            </a:r>
            <a:r>
              <a:rPr sz="1700" b="1" dirty="0" err="1"/>
              <a:t>đạt</a:t>
            </a:r>
            <a:r>
              <a:rPr sz="1700" b="1" dirty="0"/>
              <a:t> </a:t>
            </a:r>
            <a:r>
              <a:rPr sz="1700" b="1" dirty="0" err="1"/>
              <a:t>được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 dirty="0"/>
              <a:t>CNN </a:t>
            </a:r>
            <a:r>
              <a:rPr sz="1400" dirty="0" err="1"/>
              <a:t>đạt</a:t>
            </a:r>
            <a:r>
              <a:rPr sz="1400" dirty="0"/>
              <a:t> Accuracy 93.18%, </a:t>
            </a:r>
            <a:r>
              <a:rPr sz="1400" dirty="0" err="1"/>
              <a:t>vượt</a:t>
            </a:r>
            <a:r>
              <a:rPr sz="1400" dirty="0"/>
              <a:t> </a:t>
            </a:r>
            <a:r>
              <a:rPr sz="1400" dirty="0" err="1"/>
              <a:t>trội</a:t>
            </a:r>
            <a:r>
              <a:rPr sz="1400" dirty="0"/>
              <a:t> so </a:t>
            </a:r>
            <a:r>
              <a:rPr sz="1400" dirty="0" err="1"/>
              <a:t>với</a:t>
            </a:r>
            <a:r>
              <a:rPr sz="1400" dirty="0"/>
              <a:t> MLP (84.73%) — </a:t>
            </a:r>
            <a:r>
              <a:rPr sz="1400" dirty="0" err="1"/>
              <a:t>nhờ</a:t>
            </a:r>
            <a:r>
              <a:rPr sz="1400" dirty="0"/>
              <a:t> Data Augmentation, Dropout </a:t>
            </a:r>
            <a:r>
              <a:rPr sz="1400" dirty="0" err="1"/>
              <a:t>và</a:t>
            </a:r>
            <a:r>
              <a:rPr sz="1400" dirty="0"/>
              <a:t> Batch Normalization.</a:t>
            </a:r>
            <a:endParaRPr dirty="0"/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5872425" y="2814569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 dirty="0" err="1"/>
              <a:t>Đánh</a:t>
            </a:r>
            <a:r>
              <a:rPr sz="1700" b="1" dirty="0"/>
              <a:t> </a:t>
            </a:r>
            <a:r>
              <a:rPr sz="1700" b="1" dirty="0" err="1"/>
              <a:t>giá</a:t>
            </a:r>
            <a:r>
              <a:rPr sz="1700" b="1" dirty="0"/>
              <a:t> &amp; </a:t>
            </a:r>
            <a:r>
              <a:rPr sz="1700" b="1" dirty="0" err="1"/>
              <a:t>minh</a:t>
            </a:r>
            <a:r>
              <a:rPr sz="1700" b="1" dirty="0"/>
              <a:t> </a:t>
            </a:r>
            <a:r>
              <a:rPr sz="1700" b="1" dirty="0" err="1"/>
              <a:t>hoạ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 dirty="0" err="1"/>
              <a:t>Đánh</a:t>
            </a:r>
            <a:r>
              <a:rPr sz="1400" dirty="0"/>
              <a:t> </a:t>
            </a:r>
            <a:r>
              <a:rPr sz="1400" dirty="0" err="1"/>
              <a:t>giá</a:t>
            </a:r>
            <a:r>
              <a:rPr sz="1400" dirty="0"/>
              <a:t> </a:t>
            </a:r>
            <a:r>
              <a:rPr sz="1400" dirty="0" err="1"/>
              <a:t>toàn</a:t>
            </a:r>
            <a:r>
              <a:rPr sz="1400" dirty="0"/>
              <a:t> </a:t>
            </a:r>
            <a:r>
              <a:rPr sz="1400" dirty="0" err="1"/>
              <a:t>diện</a:t>
            </a:r>
            <a:r>
              <a:rPr sz="1400" dirty="0"/>
              <a:t> qua Accuracy, Precision, Recall, F1-score </a:t>
            </a:r>
            <a:r>
              <a:rPr sz="1400" dirty="0" err="1"/>
              <a:t>và</a:t>
            </a:r>
            <a:r>
              <a:rPr sz="1400" dirty="0"/>
              <a:t> Confusion Matrix; </a:t>
            </a:r>
            <a:r>
              <a:rPr sz="1400" dirty="0" err="1"/>
              <a:t>xây</a:t>
            </a:r>
            <a:r>
              <a:rPr sz="1400" dirty="0"/>
              <a:t> </a:t>
            </a:r>
            <a:r>
              <a:rPr sz="1400" dirty="0" err="1"/>
              <a:t>dựng</a:t>
            </a:r>
            <a:r>
              <a:rPr sz="1400" dirty="0"/>
              <a:t> demo </a:t>
            </a:r>
            <a:r>
              <a:rPr sz="1400" dirty="0" err="1"/>
              <a:t>dự</a:t>
            </a:r>
            <a:r>
              <a:rPr sz="1400" dirty="0"/>
              <a:t> </a:t>
            </a:r>
            <a:r>
              <a:rPr sz="1400" dirty="0" err="1"/>
              <a:t>đoán</a:t>
            </a:r>
            <a:r>
              <a:rPr sz="1400" dirty="0"/>
              <a:t> </a:t>
            </a:r>
            <a:r>
              <a:rPr sz="1400" dirty="0" err="1"/>
              <a:t>ảnh</a:t>
            </a:r>
            <a:r>
              <a:rPr sz="1400" dirty="0"/>
              <a:t> </a:t>
            </a:r>
            <a:r>
              <a:rPr sz="1400" dirty="0" err="1"/>
              <a:t>thời</a:t>
            </a:r>
            <a:r>
              <a:rPr sz="1400" dirty="0"/>
              <a:t> </a:t>
            </a:r>
            <a:r>
              <a:rPr sz="1400" dirty="0" err="1"/>
              <a:t>trang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tế</a:t>
            </a:r>
            <a:r>
              <a:rPr sz="1400" dirty="0"/>
              <a:t>.</a:t>
            </a:r>
            <a:endParaRPr dirty="0"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5872425" y="4604482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 dirty="0" err="1"/>
              <a:t>Hướng</a:t>
            </a:r>
            <a:r>
              <a:rPr sz="1700" b="1" dirty="0"/>
              <a:t> </a:t>
            </a:r>
            <a:r>
              <a:rPr sz="1700" b="1" dirty="0" err="1"/>
              <a:t>phát</a:t>
            </a:r>
            <a:r>
              <a:rPr sz="1700" b="1" dirty="0"/>
              <a:t> </a:t>
            </a:r>
            <a:r>
              <a:rPr sz="1700" b="1" dirty="0" err="1"/>
              <a:t>triển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400" dirty="0" err="1"/>
              <a:t>Thử</a:t>
            </a:r>
            <a:r>
              <a:rPr sz="1400" dirty="0"/>
              <a:t> </a:t>
            </a:r>
            <a:r>
              <a:rPr sz="1400" dirty="0" err="1"/>
              <a:t>nghiệm</a:t>
            </a:r>
            <a:r>
              <a:rPr sz="1400" dirty="0"/>
              <a:t> </a:t>
            </a:r>
            <a:r>
              <a:rPr sz="1400" dirty="0" err="1"/>
              <a:t>kiến</a:t>
            </a:r>
            <a:r>
              <a:rPr sz="1400" dirty="0"/>
              <a:t> </a:t>
            </a:r>
            <a:r>
              <a:rPr sz="1400" dirty="0" err="1"/>
              <a:t>trúc</a:t>
            </a:r>
            <a:r>
              <a:rPr sz="1400" dirty="0"/>
              <a:t> </a:t>
            </a:r>
            <a:r>
              <a:rPr sz="1400" dirty="0" err="1"/>
              <a:t>sâu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(</a:t>
            </a:r>
            <a:r>
              <a:rPr sz="1400" dirty="0" err="1"/>
              <a:t>ResNet</a:t>
            </a:r>
            <a:r>
              <a:rPr sz="1400" dirty="0"/>
              <a:t>, </a:t>
            </a:r>
            <a:r>
              <a:rPr sz="1400" dirty="0" err="1"/>
              <a:t>VGGNet</a:t>
            </a:r>
            <a:r>
              <a:rPr sz="1400" dirty="0"/>
              <a:t>), Transfer Learning, </a:t>
            </a:r>
            <a:r>
              <a:rPr sz="1400" dirty="0" err="1"/>
              <a:t>mở</a:t>
            </a:r>
            <a:r>
              <a:rPr sz="1400" dirty="0"/>
              <a:t> </a:t>
            </a:r>
            <a:r>
              <a:rPr sz="1400" dirty="0" err="1"/>
              <a:t>rộng</a:t>
            </a:r>
            <a:r>
              <a:rPr sz="1400" dirty="0"/>
              <a:t>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và</a:t>
            </a:r>
            <a:r>
              <a:rPr sz="1400" dirty="0"/>
              <a:t> </a:t>
            </a:r>
            <a:r>
              <a:rPr sz="1400" dirty="0" err="1"/>
              <a:t>triển</a:t>
            </a:r>
            <a:r>
              <a:rPr sz="1400" dirty="0"/>
              <a:t> </a:t>
            </a:r>
            <a:r>
              <a:rPr sz="1400" dirty="0" err="1"/>
              <a:t>khai</a:t>
            </a:r>
            <a:r>
              <a:rPr sz="1400" dirty="0"/>
              <a:t> </a:t>
            </a:r>
            <a:r>
              <a:rPr sz="1400" dirty="0" err="1"/>
              <a:t>ứng</a:t>
            </a:r>
            <a:r>
              <a:rPr sz="1400" dirty="0"/>
              <a:t> </a:t>
            </a:r>
            <a:r>
              <a:rPr sz="1400" dirty="0" err="1"/>
              <a:t>dụng</a:t>
            </a:r>
            <a:r>
              <a:rPr sz="1400" dirty="0"/>
              <a:t> web/mobile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tế</a:t>
            </a:r>
            <a:r>
              <a:rPr sz="1400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E1529-1358-CC98-92DA-C11AED57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1" y="2384216"/>
            <a:ext cx="5388418" cy="35414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r>
              <a:rPr sz="3200"/>
              <a:t>Tài liệu tham khảo</a:t>
            </a:r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r>
              <a:t>Nguồn tư liệu chính được sử dụng</a:t>
            </a:r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Tài liệu &amp; sách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/>
              <a:t>Dive into Deep Learning (D2L) — chương Computer Vision/CNN.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/>
              <a:t>PyTorch CIFAR-10 Tutorial — pytorch.org/tutorials.</a:t>
            </a:r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Bộ dữ liệu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/>
              <a:t>Fashion-MNIST — Zalando Research (github.com/zalandoresearch/fashion-mnist).</a:t>
            </a:r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700" b="1"/>
              <a:t>Công cụ sử dụng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r>
              <a:rPr sz="1300"/>
              <a:t>PyTorch, scikit-learn, Matplotlib, Google Colab.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1000</Words>
  <Application>Microsoft Office PowerPoint</Application>
  <PresentationFormat>Widescreen</PresentationFormat>
  <Paragraphs>93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Roboto</vt:lpstr>
      <vt:lpstr>Arial</vt:lpstr>
      <vt:lpstr>Be Vietnam Pro</vt:lpstr>
      <vt:lpstr>Be Vietnam Pro Black</vt:lpstr>
      <vt:lpstr>Office Theme</vt:lpstr>
      <vt:lpstr>PowerPoint Presentation</vt:lpstr>
      <vt:lpstr>Mục lục</vt:lpstr>
      <vt:lpstr>Nhóm thực hiện</vt:lpstr>
      <vt:lpstr>Bài toán phân loại ảnh thời trang</vt:lpstr>
      <vt:lpstr>Mục tiêu &amp; phạm vi</vt:lpstr>
      <vt:lpstr>Vì sao chọn CNN?</vt:lpstr>
      <vt:lpstr>Kiến trúc mạng CNN</vt:lpstr>
      <vt:lpstr>Kỹ thuật cải thiện hiệu năng</vt:lpstr>
      <vt:lpstr>Bộ dữ liệu Fashion-MNIST</vt:lpstr>
      <vt:lpstr>Huấn luyện &amp; đánh giá</vt:lpstr>
      <vt:lpstr>Demo minh hoạ</vt:lpstr>
      <vt:lpstr>Demo minh hoạ</vt:lpstr>
      <vt:lpstr>Kết quả thực nghiệm</vt:lpstr>
      <vt:lpstr>Kết luận &amp; hướng phát triển</vt:lpstr>
      <vt:lpstr>Tài liệu tham khảo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Hoàng Hải</cp:lastModifiedBy>
  <cp:revision>2</cp:revision>
  <dcterms:modified xsi:type="dcterms:W3CDTF">2026-09-03T04:12:53Z</dcterms:modified>
</cp:coreProperties>
</file>